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062" autoAdjust="0"/>
  </p:normalViewPr>
  <p:slideViewPr>
    <p:cSldViewPr snapToGrid="0" snapToObjects="1">
      <p:cViewPr varScale="1">
        <p:scale>
          <a:sx n="101" d="100"/>
          <a:sy n="101" d="100"/>
        </p:scale>
        <p:origin x="3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ln w="38100" cap="flat">
              <a:solidFill>
                <a:srgbClr val="C9A24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9A24B"/>
              </a:solidFill>
              <a:ln w="9525" cap="flat">
                <a:solidFill>
                  <a:srgbClr val="E0BE72"/>
                </a:solidFill>
                <a:prstDash val="solid"/>
                <a:round/>
              </a:ln>
              <a:effectLst/>
            </c:spPr>
          </c:marker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EDE6D6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Signing</c:v>
                </c:pt>
                <c:pt idx="1">
                  <c:v>Pre-Prod</c:v>
                </c:pt>
                <c:pt idx="2">
                  <c:v>Production</c:v>
                </c:pt>
                <c:pt idx="3">
                  <c:v>Alpha</c:v>
                </c:pt>
                <c:pt idx="4">
                  <c:v>Beta</c:v>
                </c:pt>
                <c:pt idx="5">
                  <c:v>RC</c:v>
                </c:pt>
                <c:pt idx="6">
                  <c:v>Live Ops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9</c:v>
                </c:pt>
                <c:pt idx="2">
                  <c:v>23.5</c:v>
                </c:pt>
                <c:pt idx="3">
                  <c:v>28</c:v>
                </c:pt>
                <c:pt idx="4">
                  <c:v>38.5</c:v>
                </c:pt>
                <c:pt idx="5">
                  <c:v>38</c:v>
                </c:pt>
                <c:pt idx="6">
                  <c:v>35.5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4C-4E68-AD85-9AD43BC6F9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64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9CBB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82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Detective Folder was a studio demo — a 2D paper-folding puzzle-platformer. This deck: how we turn it into a live-service mobile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2D paper-folding puzzle-platformer. The fold mechanic is the identity. Shipped: tutorial + 4 levels. This is the loop we must not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through-line: protect / rebuild / add. Low risk to the fun, high investment on the surrounding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 carry the demo forward; five are net-new. Deferrals are deliberate scope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Locked definition. Deferrals stated up front. No gacha is a positioning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fold loop is untouched; the container around it becomes mobile-native and content-scalable.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7-11 — where headcount and cost go. No ads, no gacha. Shared case archive replaces a leaderboard.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~14 months of build (MS0 to launch MS4 Dec-2027), then MS5 archive and MS6 as the repeating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= the build campaign. Right = life after launch. MS6 is a repeatable template; 2028 is full-speed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core. Staggered 45-day pipeline + pre-launch runway make live-service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Ramp, peak at Beta to bank a content runway, then build/systems roles exit while narrative, content, LiveOps and QA persist.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$9.63M labor, 951.5 man-months, 43 roles. Vendors are batched commissions. Salary method is documented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judgment calls: keep the loop, no gacha, sustain content pace by batching audio/VO, park UGC/localization/publishing.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through-line: loop protected, machine built around it, costed and scheduled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367B-08B2-C295-AF67-C03F53C77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3A300-9524-0322-F72C-1BA087C80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9AC37-D7DF-C023-107B-033C87B4F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through-line: loop protected, machine built around it, costed and scheduled end to end.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25608-B407-DAED-82A4-6B1FC3077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1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0_Image2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6583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955280" cy="6858000"/>
          </a:xfrm>
          <a:prstGeom prst="rect">
            <a:avLst/>
          </a:prstGeom>
          <a:solidFill>
            <a:srgbClr val="1413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 GUILDHALL  ·  PRODUCTION PLAN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3232" y="16002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000"/>
              </a:lnSpc>
              <a:buNone/>
            </a:pPr>
            <a:r>
              <a:rPr lang="en-US" sz="66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DETECTIVE</a:t>
            </a:r>
            <a:endParaRPr lang="en-US" sz="6600" dirty="0"/>
          </a:p>
          <a:p>
            <a:pPr marL="0" indent="0">
              <a:lnSpc>
                <a:spcPts val="6000"/>
              </a:lnSpc>
              <a:buNone/>
            </a:pPr>
            <a:r>
              <a:rPr lang="en-US" sz="66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FOLDER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777240" y="3977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Studio Demo to Live-Service Mobile Game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7724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by Young Gou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FILE WE START FROM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demo we already built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732520" y="1280160"/>
            <a:ext cx="2926080" cy="4572000"/>
          </a:xfrm>
          <a:prstGeom prst="rect">
            <a:avLst/>
          </a:prstGeom>
          <a:solidFill>
            <a:srgbClr val="1E1C24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assets/p0_Image25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9680" y="1417320"/>
            <a:ext cx="2651760" cy="4297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965960"/>
            <a:ext cx="7680960" cy="100584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 rot="5400000" flipH="1">
            <a:off x="7973568" y="19659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29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24231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Walk → Jump → Fold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7680960" cy="100584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 rot="5400000" flipH="1">
            <a:off x="7973568" y="320040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29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LOOP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3657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Explore → Collect → Avoid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7680960" cy="100584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 rot="5400000" flipH="1">
            <a:off x="7973568" y="443484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22960" y="4892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Catch the Baahd Guys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BET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the loop. Build a live game around it.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3520440" cy="2743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3813048" y="228600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8FA5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 loop, the 4 levels, the noir story.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2286000"/>
            <a:ext cx="3520440" cy="2743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5400000" flipH="1">
            <a:off x="7589520" y="228600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45152" y="260604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99432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REBUILD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99432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systems, remade for touch &amp; content.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01584" y="2286000"/>
            <a:ext cx="3520440" cy="2743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rot="5400000" flipH="1">
            <a:off x="11365992" y="228600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421624" y="2606040"/>
            <a:ext cx="502920" cy="502920"/>
          </a:xfrm>
          <a:prstGeom prst="ellipse">
            <a:avLst/>
          </a:prstGeom>
          <a:solidFill>
            <a:srgbClr val="9C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75904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375904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LiveOps, monetization, backend, QA.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BREAKDOWN · 11 FEATURES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conversion at a glance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OVER  ·  DF 1–6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532120" cy="566928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5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gameplay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5532120" cy="566928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7614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5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91640" y="27614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system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419856"/>
            <a:ext cx="5532120" cy="566928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34198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5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91640" y="34198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system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078224"/>
            <a:ext cx="5532120" cy="566928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40782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5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91640" y="40782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objects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736592"/>
            <a:ext cx="5532120" cy="566928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47365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5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691640" y="47365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narrative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394960"/>
            <a:ext cx="5532120" cy="566928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" y="53949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5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91640" y="53949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menu system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35508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LIVE-SERVICE SYSTEMS  ·  DF 7–11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55080" y="2103120"/>
            <a:ext cx="5285232" cy="566928"/>
          </a:xfrm>
          <a:prstGeom prst="rect">
            <a:avLst/>
          </a:prstGeom>
          <a:solidFill>
            <a:srgbClr val="26232D"/>
          </a:solidFill>
          <a:ln w="1143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37960" y="210312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7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89520" y="21031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progression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355080" y="2761488"/>
            <a:ext cx="5285232" cy="566928"/>
          </a:xfrm>
          <a:prstGeom prst="rect">
            <a:avLst/>
          </a:prstGeom>
          <a:solidFill>
            <a:srgbClr val="26232D"/>
          </a:solidFill>
          <a:ln w="1143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37960" y="27614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8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589520" y="27614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LiveOps &amp; events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355080" y="3419856"/>
            <a:ext cx="5285232" cy="566928"/>
          </a:xfrm>
          <a:prstGeom prst="rect">
            <a:avLst/>
          </a:prstGeom>
          <a:solidFill>
            <a:srgbClr val="26232D"/>
          </a:solidFill>
          <a:ln w="1143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537960" y="341985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9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589520" y="34198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355080" y="4078224"/>
            <a:ext cx="5285232" cy="566928"/>
          </a:xfrm>
          <a:prstGeom prst="rect">
            <a:avLst/>
          </a:prstGeom>
          <a:solidFill>
            <a:srgbClr val="26232D"/>
          </a:solidFill>
          <a:ln w="1143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537960" y="407822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10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589520" y="407822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backend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355080" y="4736592"/>
            <a:ext cx="5285232" cy="566928"/>
          </a:xfrm>
          <a:prstGeom prst="rect">
            <a:avLst/>
          </a:prstGeom>
          <a:solidFill>
            <a:srgbClr val="26232D"/>
          </a:solidFill>
          <a:ln w="1143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537960" y="473659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11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589520" y="47365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compatibility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6355080" y="553212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PRODUCT DEFINITION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are actually shipping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606040" cy="173736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2898648" y="19659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version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4992" y="1965960"/>
            <a:ext cx="2606040" cy="173736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rot="5400000" flipH="1">
            <a:off x="5715000" y="19659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02152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~8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502152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/ year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81344" y="1965960"/>
            <a:ext cx="2606040" cy="173736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5400000" flipH="1">
            <a:off x="8531352" y="19659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18504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318504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pillars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97696" y="1965960"/>
            <a:ext cx="2606040" cy="173736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 rot="5400000" flipH="1">
            <a:off x="11347704" y="19659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34856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9134856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gacha · 0 ads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Narrative-driven detective live-service game. Monetization: battle pass + monthly card + skin shop.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4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64992" y="5394960"/>
            <a:ext cx="2606040" cy="502920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56432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/ editor deferred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81344" y="5394960"/>
            <a:ext cx="2606040" cy="502920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72784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deferred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FA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1–6 · TO MOBILE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Reworking the core for mobile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204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3813048" y="21945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141319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1945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Touch controls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25112" y="2194560"/>
            <a:ext cx="35204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5400000" flipH="1">
            <a:off x="7589520" y="21945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99432" y="2651760"/>
            <a:ext cx="502920" cy="502920"/>
          </a:xfrm>
          <a:prstGeom prst="ellipse">
            <a:avLst/>
          </a:prstGeom>
          <a:solidFill>
            <a:srgbClr val="141319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99432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85232" y="21945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Level toolset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101584" y="2194560"/>
            <a:ext cx="35204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rot="5400000" flipH="1">
            <a:off x="11365992" y="21945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375904" y="2651760"/>
            <a:ext cx="502920" cy="502920"/>
          </a:xfrm>
          <a:prstGeom prst="ellipse">
            <a:avLst/>
          </a:prstGeom>
          <a:solidFill>
            <a:srgbClr val="141319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375904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61704" y="21945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Cosmetic skins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35204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rot="5400000" flipH="1">
            <a:off x="3813048" y="39319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141319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2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08760" y="3931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Extensible objects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4325112" y="3931920"/>
            <a:ext cx="35204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rot="5400000" flipH="1">
            <a:off x="7589520" y="39319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99432" y="4389120"/>
            <a:ext cx="502920" cy="502920"/>
          </a:xfrm>
          <a:prstGeom prst="ellipse">
            <a:avLst/>
          </a:prstGeom>
          <a:solidFill>
            <a:srgbClr val="141319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99432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285232" y="3931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Store screens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8101584" y="3931920"/>
            <a:ext cx="35204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 rot="5400000" flipH="1">
            <a:off x="11365992" y="39319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375904" y="4389120"/>
            <a:ext cx="502920" cy="502920"/>
          </a:xfrm>
          <a:prstGeom prst="ellipse">
            <a:avLst/>
          </a:prstGeom>
          <a:solidFill>
            <a:srgbClr val="141319"/>
          </a:solidFill>
          <a:ln w="1905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375904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061704" y="39319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English pipeline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REWORK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44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7–11 · THE MACHINE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new systems make it live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1672" cy="713232"/>
          </a:xfrm>
          <a:prstGeom prst="rect">
            <a:avLst/>
          </a:prstGeom>
          <a:solidFill>
            <a:srgbClr val="141319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2048256"/>
            <a:ext cx="457200" cy="457200"/>
          </a:xfrm>
          <a:prstGeom prst="ellipse">
            <a:avLst/>
          </a:prstGeom>
          <a:solidFill>
            <a:srgbClr val="1E1C24"/>
          </a:solidFill>
          <a:ln w="1778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2048256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7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463040" y="19202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Player progression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9202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spine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61488"/>
            <a:ext cx="11091672" cy="713232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889504"/>
            <a:ext cx="457200" cy="457200"/>
          </a:xfrm>
          <a:prstGeom prst="ellipse">
            <a:avLst/>
          </a:prstGeom>
          <a:solidFill>
            <a:srgbClr val="1E1C24"/>
          </a:solidFill>
          <a:ln w="1778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288950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8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463040" y="276148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LiveOps &amp; events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0" y="27614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· economy · A/B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602736"/>
            <a:ext cx="11091672" cy="713232"/>
          </a:xfrm>
          <a:prstGeom prst="rect">
            <a:avLst/>
          </a:prstGeom>
          <a:solidFill>
            <a:srgbClr val="141319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1520" y="3730752"/>
            <a:ext cx="457200" cy="457200"/>
          </a:xfrm>
          <a:prstGeom prst="ellipse">
            <a:avLst/>
          </a:prstGeom>
          <a:solidFill>
            <a:srgbClr val="1E1C24"/>
          </a:solidFill>
          <a:ln w="1778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" y="3730752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9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463040" y="36027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Monetization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0800" y="360273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pass · card · skins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443984"/>
            <a:ext cx="11091672" cy="713232"/>
          </a:xfrm>
          <a:prstGeom prst="rect">
            <a:avLst/>
          </a:prstGeom>
          <a:solidFill>
            <a:srgbClr val="26232D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1E1C24"/>
          </a:solidFill>
          <a:ln w="1778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" y="457200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10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463040" y="444398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Online &amp; backend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00800" y="444398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save · analytics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285232"/>
            <a:ext cx="11091672" cy="713232"/>
          </a:xfrm>
          <a:prstGeom prst="rect">
            <a:avLst/>
          </a:prstGeom>
          <a:solidFill>
            <a:srgbClr val="141319"/>
          </a:solidFill>
          <a:ln w="9525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31520" y="5413248"/>
            <a:ext cx="457200" cy="457200"/>
          </a:xfrm>
          <a:prstGeom prst="ellipse">
            <a:avLst/>
          </a:prstGeom>
          <a:solidFill>
            <a:srgbClr val="1E1C24"/>
          </a:solidFill>
          <a:ln w="1778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8368" y="5413248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DF 11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463040" y="528523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QA &amp; compatibility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400800" y="52852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· cert · regression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SYSTEMS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SCHEDULE · MS0 → MS6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roadmap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325880" y="2606040"/>
            <a:ext cx="157276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898648" y="2606040"/>
            <a:ext cx="157276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471416" y="2606040"/>
            <a:ext cx="157276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44184" y="2606040"/>
            <a:ext cx="1572768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16952" y="2606040"/>
            <a:ext cx="1572768" cy="0"/>
          </a:xfrm>
          <a:prstGeom prst="line">
            <a:avLst/>
          </a:prstGeom>
          <a:noFill/>
          <a:ln w="19050">
            <a:solidFill>
              <a:srgbClr val="9C2B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189720" y="2606040"/>
            <a:ext cx="1572768" cy="0"/>
          </a:xfrm>
          <a:prstGeom prst="line">
            <a:avLst/>
          </a:prstGeom>
          <a:noFill/>
          <a:ln w="19050">
            <a:solidFill>
              <a:srgbClr val="9C2B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585216" cy="585216"/>
          </a:xfrm>
          <a:prstGeom prst="ellipse">
            <a:avLst/>
          </a:prstGeom>
          <a:solidFill>
            <a:srgbClr val="141319"/>
          </a:solidFill>
          <a:ln w="2032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3474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50008" y="2331720"/>
            <a:ext cx="585216" cy="585216"/>
          </a:xfrm>
          <a:prstGeom prst="ellipse">
            <a:avLst/>
          </a:prstGeom>
          <a:solidFill>
            <a:srgbClr val="141319"/>
          </a:solidFill>
          <a:ln w="2032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50008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938528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892808" y="4023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922776" y="2331720"/>
            <a:ext cx="585216" cy="585216"/>
          </a:xfrm>
          <a:prstGeom prst="ellipse">
            <a:avLst/>
          </a:prstGeom>
          <a:solidFill>
            <a:srgbClr val="141319"/>
          </a:solidFill>
          <a:ln w="2032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22776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11296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2027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465576" y="3474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Complete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95544" y="2331720"/>
            <a:ext cx="585216" cy="585216"/>
          </a:xfrm>
          <a:prstGeom prst="ellipse">
            <a:avLst/>
          </a:prstGeom>
          <a:solidFill>
            <a:srgbClr val="141319"/>
          </a:solidFill>
          <a:ln w="2032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95544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84064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38344" y="4023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68312" y="2331720"/>
            <a:ext cx="585216" cy="585216"/>
          </a:xfrm>
          <a:prstGeom prst="ellipse">
            <a:avLst/>
          </a:prstGeom>
          <a:solidFill>
            <a:srgbClr val="141319"/>
          </a:solidFill>
          <a:ln w="3175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068312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43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656832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2027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611112" y="3474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641080" y="2331720"/>
            <a:ext cx="585216" cy="585216"/>
          </a:xfrm>
          <a:prstGeom prst="ellipse">
            <a:avLst/>
          </a:prstGeom>
          <a:solidFill>
            <a:srgbClr val="141319"/>
          </a:solidFill>
          <a:ln w="2032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641080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229600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2028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183880" y="4023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213848" y="2331720"/>
            <a:ext cx="585216" cy="585216"/>
          </a:xfrm>
          <a:prstGeom prst="ellipse">
            <a:avLst/>
          </a:prstGeom>
          <a:solidFill>
            <a:srgbClr val="141319"/>
          </a:solidFill>
          <a:ln w="2032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213848" y="2331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C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MS6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802368" y="30449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756648" y="3474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Template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BUILD PHASE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595360" y="5989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C44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SERVICE  ▶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building the game to running 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5486400" cy="374904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5779008" y="201168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·  MS0–MS4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578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 the game and ship it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3355848"/>
            <a:ext cx="365760" cy="365760"/>
          </a:xfrm>
          <a:prstGeom prst="ellipse">
            <a:avLst/>
          </a:prstGeom>
          <a:solidFill>
            <a:srgbClr val="141319"/>
          </a:solidFill>
          <a:ln w="1778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proves the fold loop on mobile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041648"/>
            <a:ext cx="365760" cy="365760"/>
          </a:xfrm>
          <a:prstGeom prst="ellipse">
            <a:avLst/>
          </a:prstGeom>
          <a:solidFill>
            <a:srgbClr val="141319"/>
          </a:solidFill>
          <a:ln w="1778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3977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1–4 content-complete; store UI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727448"/>
            <a:ext cx="365760" cy="365760"/>
          </a:xfrm>
          <a:prstGeom prst="ellipse">
            <a:avLst/>
          </a:prstGeom>
          <a:solidFill>
            <a:srgbClr val="141319"/>
          </a:solidFill>
          <a:ln w="1778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71600" y="4663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Cert, IAP, Gold Master — launch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2011680"/>
            <a:ext cx="5468112" cy="3749040"/>
          </a:xfrm>
          <a:prstGeom prst="rect">
            <a:avLst/>
          </a:prstGeom>
          <a:solidFill>
            <a:srgbClr val="1E1C24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rot="5400000" flipH="1">
            <a:off x="11384280" y="201168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4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MS5–MS6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2578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Archive, then run the engine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 rot="2700000">
            <a:off x="6446520" y="3429000"/>
            <a:ext cx="146304" cy="146304"/>
          </a:xfrm>
          <a:prstGeom prst="rect">
            <a:avLst/>
          </a:prstGeom>
          <a:solidFill>
            <a:srgbClr val="C44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66560" y="3291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source, tools &amp; pipelines (MS5)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 rot="2700000">
            <a:off x="6446520" y="4114800"/>
            <a:ext cx="146304" cy="146304"/>
          </a:xfrm>
          <a:prstGeom prst="rect">
            <a:avLst/>
          </a:prstGeom>
          <a:solidFill>
            <a:srgbClr val="C44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6656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new version every 45 days (MS6)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 rot="2700000">
            <a:off x="6446520" y="4800600"/>
            <a:ext cx="146304" cy="146304"/>
          </a:xfrm>
          <a:prstGeom prst="rect">
            <a:avLst/>
          </a:prstGeom>
          <a:solidFill>
            <a:srgbClr val="C44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6656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tunes the next cycle — full speed through 2028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LIVE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A LIVE GAME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45-day content engine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20440" cy="155448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3813048" y="21945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Greybox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005072" y="2514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325112" y="2194560"/>
            <a:ext cx="3520440" cy="155448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5400000" flipH="1">
            <a:off x="7589520" y="21945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99432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15–30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99432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Alpha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81544" y="2514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8101584" y="2194560"/>
            <a:ext cx="3520440" cy="155448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rot="5400000" flipH="1">
            <a:off x="11365992" y="21945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75904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30–45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75904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Shippable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SHIPS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2084832" cy="594360"/>
          </a:xfrm>
          <a:prstGeom prst="rect">
            <a:avLst/>
          </a:prstGeom>
          <a:solidFill>
            <a:srgbClr val="26232D"/>
          </a:solidFill>
          <a:ln w="1143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46177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levels + case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788920" y="4617720"/>
            <a:ext cx="2084832" cy="594360"/>
          </a:xfrm>
          <a:prstGeom prst="rect">
            <a:avLst/>
          </a:prstGeom>
          <a:solidFill>
            <a:srgbClr val="26232D"/>
          </a:solidFill>
          <a:ln w="1143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880360" y="46177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character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29200" y="4617720"/>
            <a:ext cx="2084832" cy="594360"/>
          </a:xfrm>
          <a:prstGeom prst="rect">
            <a:avLst/>
          </a:prstGeom>
          <a:solidFill>
            <a:srgbClr val="26232D"/>
          </a:solidFill>
          <a:ln w="1143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120640" y="46177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 + skin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269480" y="4617720"/>
            <a:ext cx="2084832" cy="594360"/>
          </a:xfrm>
          <a:prstGeom prst="rect">
            <a:avLst/>
          </a:prstGeom>
          <a:solidFill>
            <a:srgbClr val="26232D"/>
          </a:solidFill>
          <a:ln w="1143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360920" y="46177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extra skin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509760" y="4617720"/>
            <a:ext cx="2084832" cy="594360"/>
          </a:xfrm>
          <a:prstGeom prst="rect">
            <a:avLst/>
          </a:prstGeom>
          <a:solidFill>
            <a:srgbClr val="26232D"/>
          </a:solidFill>
          <a:ln w="1143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601200" y="461772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event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B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level-equivalents are built before launch, so the cadence starts full-speed on day one.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PLAN · HEADCOUNT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Ramp to a runway, then sustain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7589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366760" y="2331720"/>
            <a:ext cx="32918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 rot="5400000" flipH="1">
            <a:off x="11402568" y="23317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549640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38.5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85953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(Beta)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366760" y="4023360"/>
            <a:ext cx="3291840" cy="141732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 rot="5400000" flipH="1">
            <a:off x="11402568" y="40233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549640" y="4160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~20–24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859536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live-ops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RESOURCING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plan costs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3520440" cy="22860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3813048" y="21031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$9.63M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LABOR COST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2103120"/>
            <a:ext cx="3520440" cy="22860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rot="5400000" flipH="1">
            <a:off x="7589520" y="21031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07992" y="2468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951.5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4507992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MAN-MONTHS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1584" y="2103120"/>
            <a:ext cx="3520440" cy="22860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5400000" flipH="1">
            <a:off x="11365992" y="210312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84464" y="2468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43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8284464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8 TEAMS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in-house across 8 feature teams  +  5 outsourced vendors. Salaries benchmarked to the 2025 GDC Salary Report.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dark.jpg"/>
          <p:cNvPicPr>
            <a:picLocks noChangeAspect="1"/>
          </p:cNvPicPr>
          <p:nvPr/>
        </p:nvPicPr>
        <p:blipFill>
          <a:blip r:embed="rId3">
            <a:alphaModFix amt="12000"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&amp; RISKS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chose, and what we watch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5349240" cy="1600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 rot="5400000" flipH="1">
            <a:off x="5641848" y="214884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Protect the core loop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68680" y="310896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41319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5349240" cy="1600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5400000" flipH="1">
            <a:off x="11265408" y="214884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0" y="2468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Cosmetic-only revenue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492240" y="310896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41319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92240" y="3108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4023360"/>
            <a:ext cx="5349240" cy="1600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rot="5400000" flipH="1">
            <a:off x="5641848" y="40233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4343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Content pace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68680" y="4983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41319"/>
          </a:solidFill>
          <a:ln w="12700">
            <a:solidFill>
              <a:srgbClr val="C44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mitigated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4023360"/>
            <a:ext cx="5349240" cy="1600200"/>
          </a:xfrm>
          <a:prstGeom prst="rect">
            <a:avLst/>
          </a:prstGeom>
          <a:solidFill>
            <a:srgbClr val="26232D"/>
          </a:solidFill>
          <a:ln w="12700">
            <a:solidFill>
              <a:srgbClr val="3A3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rot="5400000" flipH="1">
            <a:off x="11265408" y="4023360"/>
            <a:ext cx="256032" cy="256032"/>
          </a:xfrm>
          <a:prstGeom prst="rtTriangle">
            <a:avLst/>
          </a:prstGeom>
          <a:solidFill>
            <a:srgbClr val="30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92240" y="4343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B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Deferred scope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492240" y="49834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41319"/>
          </a:solidFill>
          <a:ln w="12700">
            <a:solidFill>
              <a:srgbClr val="9C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9224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DEMO → LIVE-SERVICE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38560" y="6419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0" y="6455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0_Image2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56598" y="0"/>
            <a:ext cx="443235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413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a folded page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a living game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 rot="2700000">
            <a:off x="777240" y="3657600"/>
            <a:ext cx="164592" cy="164592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3000" y="35478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fold loop; rebuild for mobile.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 rot="2700000">
            <a:off x="777240" y="4315968"/>
            <a:ext cx="164592" cy="164592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4206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Dec 2027 on a pre-built runway.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 rot="2700000">
            <a:off x="777240" y="4974336"/>
            <a:ext cx="164592" cy="164592"/>
          </a:xfrm>
          <a:prstGeom prst="rect">
            <a:avLst/>
          </a:prstGeom>
          <a:solidFill>
            <a:srgbClr val="C9A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3000" y="48646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9C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45-day engine — ~8 versions a year.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SMU Guildhall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3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94646-5AAB-3B3F-B341-9AC602FB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0_Image25.jpg">
            <a:extLst>
              <a:ext uri="{FF2B5EF4-FFF2-40B4-BE49-F238E27FC236}">
                <a16:creationId xmlns:a16="http://schemas.microsoft.com/office/drawing/2014/main" id="{BCFC6E22-7F9F-F0EA-3CED-C204CB2C90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7756598" y="0"/>
            <a:ext cx="4432353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3920FCE-4554-72E3-DC53-625A8D6EE3EF}"/>
              </a:ext>
            </a:extLst>
          </p:cNvPr>
          <p:cNvSpPr/>
          <p:nvPr/>
        </p:nvSpPr>
        <p:spPr>
          <a:xfrm>
            <a:off x="777240" y="3759761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E202A3C-B295-4851-9AE0-EA7511A00CDD}"/>
              </a:ext>
            </a:extLst>
          </p:cNvPr>
          <p:cNvSpPr/>
          <p:nvPr/>
        </p:nvSpPr>
        <p:spPr>
          <a:xfrm>
            <a:off x="777240" y="2362306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EDE6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Thanks for Listening!</a:t>
            </a:r>
            <a:endParaRPr lang="en-US" sz="4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E3D22FD-5F6D-11F6-A46B-F7D93A37B494}"/>
              </a:ext>
            </a:extLst>
          </p:cNvPr>
          <p:cNvSpPr/>
          <p:nvPr/>
        </p:nvSpPr>
        <p:spPr>
          <a:xfrm>
            <a:off x="7772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A79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Folder  ·  SMU Guildhall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5054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1071</Words>
  <Application>Microsoft Office PowerPoint</Application>
  <PresentationFormat>Widescreen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Gou, Young</cp:lastModifiedBy>
  <cp:revision>3</cp:revision>
  <dcterms:created xsi:type="dcterms:W3CDTF">2026-07-22T15:41:02Z</dcterms:created>
  <dcterms:modified xsi:type="dcterms:W3CDTF">2026-07-22T16:03:22Z</dcterms:modified>
</cp:coreProperties>
</file>